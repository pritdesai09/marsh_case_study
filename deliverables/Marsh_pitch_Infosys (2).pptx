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Infosys: why health cover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C9D6EE"/>
                </a:solidFill>
                <a:latin typeface="Segoe UI"/>
              </a:rPr>
              <a:t>Indian multinational technology company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5F6B7A"/>
                </a:solidFill>
                <a:latin typeface="Segoe UI"/>
              </a:rPr>
              <a:t>Marsh | Prepared for Infosys | Audited and approved by advisor | Audit e5de5f4af6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5F6B7A"/>
                </a:solidFill>
                <a:latin typeface="Segoe UI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291840" cy="96012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6304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F6B7A"/>
                </a:solidFill>
                <a:latin typeface="Segoe UI"/>
              </a:rPr>
              <a:t>INDUSTRY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1907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02C77"/>
                </a:solidFill>
                <a:latin typeface="Segoe UI"/>
              </a:rPr>
              <a:t>IT service management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3291840" cy="96012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F6B7A"/>
                </a:solidFill>
                <a:latin typeface="Segoe UI"/>
              </a:rPr>
              <a:t>EMPLOYEES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6207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02C77"/>
                </a:solidFill>
                <a:latin typeface="Segoe UI"/>
              </a:rPr>
              <a:t>328,594 (as of 2026)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3291840" cy="96012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4904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F6B7A"/>
                </a:solidFill>
                <a:latin typeface="Segoe UI"/>
              </a:rPr>
              <a:t>HEADQUARTERS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0507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02C77"/>
                </a:solidFill>
                <a:latin typeface="Segoe UI"/>
              </a:rPr>
              <a:t>Bengaluru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00600"/>
            <a:ext cx="3291840" cy="96012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89204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F6B7A"/>
                </a:solidFill>
                <a:latin typeface="Segoe UI"/>
              </a:rPr>
              <a:t>FOUNDED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48072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02C77"/>
                </a:solidFill>
                <a:latin typeface="Segoe UI"/>
              </a:rPr>
              <a:t>1981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5F6B7A"/>
                </a:solidFill>
                <a:latin typeface="Segoe UI"/>
              </a:rPr>
              <a:t>Source: Wikidata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280160"/>
            <a:ext cx="734537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02C77"/>
                </a:solidFill>
                <a:latin typeface="Segoe UI"/>
              </a:rPr>
              <a:t>What this means for health cover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02C77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1A1F2B"/>
                </a:solidFill>
                <a:latin typeface="Segoe UI"/>
              </a:rPr>
              <a:t>Infosys operates in IT service management.</a:t>
            </a:r>
          </a:p>
          <a:p>
            <a:pPr>
              <a:spcBef>
                <a:spcPts val="100"/>
              </a:spcBef>
            </a:pPr>
            <a:r>
              <a:rPr sz="900" b="0" i="1">
                <a:solidFill>
                  <a:srgbClr val="5F6B7A"/>
                </a:solidFill>
                <a:latin typeface="Segoe UI"/>
              </a:rPr>
              <a:t>   Source: Wikidata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02C77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1A1F2B"/>
                </a:solidFill>
                <a:latin typeface="Segoe UI"/>
              </a:rPr>
              <a:t>Employees: 328,594 (as of 2026).</a:t>
            </a:r>
          </a:p>
          <a:p>
            <a:pPr>
              <a:spcBef>
                <a:spcPts val="100"/>
              </a:spcBef>
            </a:pPr>
            <a:r>
              <a:rPr sz="900" b="0" i="1">
                <a:solidFill>
                  <a:srgbClr val="5F6B7A"/>
                </a:solidFill>
                <a:latin typeface="Segoe UI"/>
              </a:rPr>
              <a:t>   Source: Wikidata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02C77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1A1F2B"/>
                </a:solidFill>
                <a:latin typeface="Segoe UI"/>
              </a:rPr>
              <a:t>Headquartered in Bengaluru.</a:t>
            </a:r>
          </a:p>
          <a:p>
            <a:pPr>
              <a:spcBef>
                <a:spcPts val="100"/>
              </a:spcBef>
            </a:pPr>
            <a:r>
              <a:rPr sz="900" b="0" i="1">
                <a:solidFill>
                  <a:srgbClr val="5F6B7A"/>
                </a:solidFill>
                <a:latin typeface="Segoe UI"/>
              </a:rPr>
              <a:t>   Source: Wikidata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02C77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1A1F2B"/>
                </a:solidFill>
                <a:latin typeface="Segoe UI"/>
              </a:rPr>
              <a:t>A large workforce likely includes many employees who also insure spouses, children and parents.</a:t>
            </a:r>
          </a:p>
          <a:p>
            <a:pPr>
              <a:spcBef>
                <a:spcPts val="100"/>
              </a:spcBef>
            </a:pPr>
            <a:r>
              <a:rPr sz="900" b="0" i="1">
                <a:solidFill>
                  <a:srgbClr val="5F6B7A"/>
                </a:solidFill>
                <a:latin typeface="Segoe UI"/>
              </a:rPr>
              <a:t>   Estimate based on the company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60520"/>
            <a:ext cx="734537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5F6B7A"/>
                </a:solidFill>
                <a:latin typeface="Segoe UI"/>
              </a:rPr>
              <a:t>Likely workforce risks (estimates)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C5221F"/>
                </a:solidFill>
                <a:latin typeface="Segoe UI"/>
              </a:rPr>
              <a:t>HIGH  </a:t>
            </a:r>
            <a:r>
              <a:rPr sz="1100" b="0" i="0">
                <a:solidFill>
                  <a:srgbClr val="1A1F2B"/>
                </a:solidFill>
                <a:latin typeface="Segoe UI"/>
              </a:rPr>
              <a:t>Desk-based work linked to lifestyle diseases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C5221F"/>
                </a:solidFill>
                <a:latin typeface="Segoe UI"/>
              </a:rPr>
              <a:t>HIGH  </a:t>
            </a:r>
            <a:r>
              <a:rPr sz="1100" b="0" i="0">
                <a:solidFill>
                  <a:srgbClr val="1A1F2B"/>
                </a:solidFill>
                <a:latin typeface="Segoe UI"/>
              </a:rPr>
              <a:t>High-pressure roles with stress-related health needs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C5221F"/>
                </a:solidFill>
                <a:latin typeface="Segoe UI"/>
              </a:rPr>
              <a:t>HIGH  </a:t>
            </a:r>
            <a:r>
              <a:rPr sz="1100" b="0" i="0">
                <a:solidFill>
                  <a:srgbClr val="1A1F2B"/>
                </a:solidFill>
                <a:latin typeface="Segoe UI"/>
              </a:rPr>
              <a:t>Young workforce starting families: maternity and newborn needs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C5221F"/>
                </a:solidFill>
                <a:latin typeface="Segoe UI"/>
              </a:rPr>
              <a:t>HIGH  </a:t>
            </a:r>
            <a:r>
              <a:rPr sz="1100" b="0" i="0">
                <a:solidFill>
                  <a:srgbClr val="1A1F2B"/>
                </a:solidFill>
                <a:latin typeface="Segoe UI"/>
              </a:rPr>
              <a:t>Employees who also cover older parents with pre-existing conditions</a:t>
            </a:r>
          </a:p>
          <a:p>
            <a:pPr>
              <a:spcBef>
                <a:spcPts val="300"/>
              </a:spcBef>
            </a:pPr>
            <a:r>
              <a:rPr sz="900" b="1" i="0">
                <a:solidFill>
                  <a:srgbClr val="B26A00"/>
                </a:solidFill>
                <a:latin typeface="Segoe UI"/>
              </a:rPr>
              <a:t>MEDIUM  </a:t>
            </a:r>
            <a:r>
              <a:rPr sz="1100" b="0" i="0">
                <a:solidFill>
                  <a:srgbClr val="1A1F2B"/>
                </a:solidFill>
                <a:latin typeface="Segoe UI"/>
              </a:rPr>
              <a:t>Rising treatment costs eroding a fixed sum insured over 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Why Marsh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C9D6EE"/>
                </a:solidFill>
                <a:latin typeface="Segoe UI"/>
              </a:rPr>
              <a:t>Independent, evidence-backed advice for your people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5F6B7A"/>
                </a:solidFill>
                <a:latin typeface="Segoe UI"/>
              </a:rPr>
              <a:t>Marsh | Prepared for Infosys | Audited and approved by advisor | Audit e5de5f4af6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5F6B7A"/>
                </a:solidFill>
                <a:latin typeface="Segoe UI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36432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09728" cy="2148840"/>
          </a:xfrm>
          <a:prstGeom prst="rect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815687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002C77"/>
                </a:solidFill>
                <a:latin typeface="Segoe UI"/>
              </a:rPr>
              <a:t>Independent advice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4815687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F2B"/>
                </a:solidFill>
                <a:latin typeface="Segoe UI"/>
              </a:rPr>
              <a:t>We compare plans across insurers so your people get the best fit, not one insurer's product.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1371600"/>
            <a:ext cx="536432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1371600"/>
            <a:ext cx="109728" cy="2148840"/>
          </a:xfrm>
          <a:prstGeom prst="rect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8767" y="1600200"/>
            <a:ext cx="4815687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002C77"/>
                </a:solidFill>
                <a:latin typeface="Segoe UI"/>
              </a:rPr>
              <a:t>Claims advocacy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2148840"/>
            <a:ext cx="4815687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F2B"/>
                </a:solidFill>
                <a:latin typeface="Segoe UI"/>
              </a:rPr>
              <a:t>Our team supports employees through claims and cashless approvals.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94760"/>
            <a:ext cx="536432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109728" cy="2148840"/>
          </a:xfrm>
          <a:prstGeom prst="rect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23360"/>
            <a:ext cx="4815687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002C77"/>
                </a:solidFill>
                <a:latin typeface="Segoe UI"/>
              </a:rPr>
              <a:t>Benchmarking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4815687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F2B"/>
                </a:solidFill>
                <a:latin typeface="Segoe UI"/>
              </a:rPr>
              <a:t>We benchmark your benefits against industry peers to keep them competitive.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3794760"/>
            <a:ext cx="5364327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3794760"/>
            <a:ext cx="109728" cy="2148840"/>
          </a:xfrm>
          <a:prstGeom prst="rect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8767" y="4023360"/>
            <a:ext cx="4815687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002C77"/>
                </a:solidFill>
                <a:latin typeface="Segoe UI"/>
              </a:rPr>
              <a:t>Verified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8767" y="4572000"/>
            <a:ext cx="4815687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1A1F2B"/>
                </a:solidFill>
                <a:latin typeface="Segoe UI"/>
              </a:rPr>
              <a:t>Every benefit in this deck is traced to the insurer's own brochure and page.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5F6B7A"/>
                </a:solidFill>
                <a:latin typeface="Segoe UI"/>
              </a:rPr>
              <a:t>Source: Marsh messaging (confirm wording)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Risks mapped to Care Supreme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C9D6EE"/>
                </a:solidFill>
                <a:latin typeface="Segoe UI"/>
              </a:rPr>
              <a:t>Each benefit below is quoted from the insurer's brochure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5F6B7A"/>
                </a:solidFill>
                <a:latin typeface="Segoe UI"/>
              </a:rPr>
              <a:t>Marsh | Prepared for Infosys | Audited and approved by advisor | Audit e5de5f4af6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5F6B7A"/>
                </a:solidFill>
                <a:latin typeface="Segoe UI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3566160" cy="1097280"/>
          </a:xfrm>
          <a:prstGeom prst="rect">
            <a:avLst/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C5221F"/>
                </a:solidFill>
                <a:latin typeface="Segoe UI"/>
              </a:rPr>
              <a:t>HIGH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73352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A1F2B"/>
                </a:solidFill>
                <a:latin typeface="Segoe UI"/>
              </a:rPr>
              <a:t>Desk-based work linked to lifestyle diseases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645920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002C77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371600"/>
            <a:ext cx="6979615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F2B"/>
                </a:solidFill>
                <a:latin typeface="Segoe UI"/>
              </a:rPr>
              <a:t/>
            </a:r>
            <a:r>
              <a:rPr sz="1400" b="1" i="0">
                <a:solidFill>
                  <a:srgbClr val="002C77"/>
                </a:solidFill>
                <a:latin typeface="Segoe UI"/>
              </a:rPr>
              <a:t/>
            </a:r>
            <a:r>
              <a:rPr sz="1400" b="0" i="0">
                <a:solidFill>
                  <a:srgbClr val="1A1F2B"/>
                </a:solidFill>
                <a:latin typeface="Segoe UI"/>
              </a:rPr>
              <a:t>Health Services: Health Portal &amp; Discount Connect.</a:t>
            </a:r>
          </a:p>
          <a:p>
            <a:pPr>
              <a:spcBef>
                <a:spcPts val="100"/>
              </a:spcBef>
            </a:pPr>
            <a:r>
              <a:rPr sz="900" b="0" i="1">
                <a:solidFill>
                  <a:srgbClr val="5F6B7A"/>
                </a:solidFill>
                <a:latin typeface="Segoe UI"/>
              </a:rPr>
              <a:t>Source: Care Health brochure p.2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14600"/>
            <a:ext cx="3566160" cy="1097280"/>
          </a:xfrm>
          <a:prstGeom prst="rect">
            <a:avLst/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C5221F"/>
                </a:solidFill>
                <a:latin typeface="Segoe UI"/>
              </a:rPr>
              <a:t>HIGH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62072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A1F2B"/>
                </a:solidFill>
                <a:latin typeface="Segoe UI"/>
              </a:rPr>
              <a:t>High-pressure roles with stress-related health needs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834640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002C77"/>
                </a:solidFill>
                <a:latin typeface="Segoe U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560320"/>
            <a:ext cx="6979615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F2B"/>
                </a:solidFill>
                <a:latin typeface="Segoe UI"/>
              </a:rPr>
              <a:t/>
            </a:r>
            <a:r>
              <a:rPr sz="1400" b="1" i="0">
                <a:solidFill>
                  <a:srgbClr val="002C77"/>
                </a:solidFill>
                <a:latin typeface="Segoe UI"/>
              </a:rPr>
              <a:t/>
            </a:r>
            <a:r>
              <a:rPr sz="1400" b="0" i="0">
                <a:solidFill>
                  <a:srgbClr val="1A1F2B"/>
                </a:solidFill>
                <a:latin typeface="Segoe UI"/>
              </a:rPr>
              <a:t>Unlimited E-Consultations: Unlimited.</a:t>
            </a:r>
          </a:p>
          <a:p>
            <a:pPr>
              <a:spcBef>
                <a:spcPts val="100"/>
              </a:spcBef>
            </a:pPr>
            <a:r>
              <a:rPr sz="900" b="0" i="1">
                <a:solidFill>
                  <a:srgbClr val="5F6B7A"/>
                </a:solidFill>
                <a:latin typeface="Segoe UI"/>
              </a:rPr>
              <a:t>Source: Care Health brochure p.2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3566160" cy="1097280"/>
          </a:xfrm>
          <a:prstGeom prst="rect">
            <a:avLst/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9476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C5221F"/>
                </a:solidFill>
                <a:latin typeface="Segoe UI"/>
              </a:rPr>
              <a:t>HIGH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50792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A1F2B"/>
                </a:solidFill>
                <a:latin typeface="Segoe UI"/>
              </a:rPr>
              <a:t>Employees who also cover older parents with pre-existing conditions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023360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002C77"/>
                </a:solidFill>
                <a:latin typeface="Segoe U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749040"/>
            <a:ext cx="6979615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F2B"/>
                </a:solidFill>
                <a:latin typeface="Segoe UI"/>
              </a:rPr>
              <a:t/>
            </a:r>
            <a:r>
              <a:rPr sz="1400" b="1" i="0">
                <a:solidFill>
                  <a:srgbClr val="002C77"/>
                </a:solidFill>
                <a:latin typeface="Segoe UI"/>
              </a:rPr>
              <a:t/>
            </a:r>
            <a:r>
              <a:rPr sz="1400" b="0" i="0">
                <a:solidFill>
                  <a:srgbClr val="1A1F2B"/>
                </a:solidFill>
                <a:latin typeface="Segoe UI"/>
              </a:rPr>
              <a:t>Maximum Entry Age: Adult: Lifelong, Child: 24 years.</a:t>
            </a:r>
          </a:p>
          <a:p>
            <a:pPr>
              <a:spcBef>
                <a:spcPts val="100"/>
              </a:spcBef>
            </a:pPr>
            <a:r>
              <a:rPr sz="900" b="0" i="1">
                <a:solidFill>
                  <a:srgbClr val="5F6B7A"/>
                </a:solidFill>
                <a:latin typeface="Segoe UI"/>
              </a:rPr>
              <a:t>Source: Care Health brochure p.2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92040"/>
            <a:ext cx="3566160" cy="1097280"/>
          </a:xfrm>
          <a:prstGeom prst="rect">
            <a:avLst/>
          </a:prstGeom>
          <a:solidFill>
            <a:srgbClr val="FE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98348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B26A00"/>
                </a:solidFill>
                <a:latin typeface="Segoe UI"/>
              </a:rPr>
              <a:t>MEDIUM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239512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A1F2B"/>
                </a:solidFill>
                <a:latin typeface="Segoe UI"/>
              </a:rPr>
              <a:t>Rising treatment costs eroding a fixed sum insured over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212080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002C77"/>
                </a:solidFill>
                <a:latin typeface="Segoe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937760"/>
            <a:ext cx="6979615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F2B"/>
                </a:solidFill>
                <a:latin typeface="Segoe UI"/>
              </a:rPr>
              <a:t/>
            </a:r>
            <a:r>
              <a:rPr sz="1400" b="1" i="0">
                <a:solidFill>
                  <a:srgbClr val="002C77"/>
                </a:solidFill>
                <a:latin typeface="Segoe UI"/>
              </a:rPr>
              <a:t/>
            </a:r>
            <a:r>
              <a:rPr sz="1400" b="0" i="0">
                <a:solidFill>
                  <a:srgbClr val="1A1F2B"/>
                </a:solidFill>
                <a:latin typeface="Segoe UI"/>
              </a:rPr>
              <a:t>Cumulative Bonus: 50% of SI per year, max. up to 100% of SI.</a:t>
            </a:r>
          </a:p>
          <a:p>
            <a:pPr>
              <a:spcBef>
                <a:spcPts val="100"/>
              </a:spcBef>
            </a:pPr>
            <a:r>
              <a:rPr sz="900" b="0" i="1">
                <a:solidFill>
                  <a:srgbClr val="5F6B7A"/>
                </a:solidFill>
                <a:latin typeface="Segoe UI"/>
              </a:rPr>
              <a:t>Source: Care Health brochure p.2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How the options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C9D6EE"/>
                </a:solidFill>
                <a:latin typeface="Segoe UI"/>
              </a:rPr>
              <a:t>Values as printed in each insurer's brochure; ★ = recommended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5F6B7A"/>
                </a:solidFill>
                <a:latin typeface="Segoe UI"/>
              </a:rPr>
              <a:t>Marsh | Prepared for Infosys | Audited and approved by advisor | Audit e5de5f4af6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5F6B7A"/>
                </a:solidFill>
                <a:latin typeface="Segoe UI"/>
              </a:rPr>
              <a:t>4 / 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1109441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224963"/>
                <a:gridCol w="2224963"/>
                <a:gridCol w="2224963"/>
                <a:gridCol w="2224963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B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002C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★ Care Supreme</a:t>
                      </a:r>
                    </a:p>
                  </a:txBody>
                  <a:tcPr marL="73152" marR="73152" marT="27432" marB="27432" anchor="ctr">
                    <a:solidFill>
                      <a:srgbClr val="002C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Aditya Birla Activ One</a:t>
                      </a:r>
                    </a:p>
                  </a:txBody>
                  <a:tcPr marL="73152" marR="73152" marT="27432" marB="27432" anchor="ctr">
                    <a:solidFill>
                      <a:srgbClr val="002C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HDFC ERGO Optima Secure</a:t>
                      </a:r>
                    </a:p>
                  </a:txBody>
                  <a:tcPr marL="73152" marR="73152" marT="27432" marB="27432" anchor="ctr">
                    <a:solidFill>
                      <a:srgbClr val="002C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Niva Bupa ReAssure 2.0</a:t>
                      </a:r>
                    </a:p>
                  </a:txBody>
                  <a:tcPr marL="73152" marR="73152" marT="27432" marB="27432" anchor="ctr">
                    <a:solidFill>
                      <a:srgbClr val="002C7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F2B"/>
                          </a:solidFill>
                          <a:latin typeface="Segoe UI"/>
                        </a:rPr>
                        <a:t>Fit score for this workforce</a:t>
                      </a:r>
                    </a:p>
                  </a:txBody>
                  <a:tcPr marL="73152" marR="73152" marT="27432" marB="27432" anchor="ctr">
                    <a:solidFill>
                      <a:srgbClr val="E8EE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2C77"/>
                          </a:solidFill>
                          <a:latin typeface="Segoe UI"/>
                        </a:rPr>
                        <a:t>71 / 100</a:t>
                      </a:r>
                    </a:p>
                  </a:txBody>
                  <a:tcPr marL="73152" marR="73152" marT="27432" marB="27432" anchor="ctr">
                    <a:solidFill>
                      <a:srgbClr val="E8EE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2C77"/>
                          </a:solidFill>
                          <a:latin typeface="Segoe UI"/>
                        </a:rPr>
                        <a:t>69 / 100</a:t>
                      </a:r>
                    </a:p>
                  </a:txBody>
                  <a:tcPr marL="73152" marR="73152" marT="27432" marB="27432" anchor="ctr">
                    <a:solidFill>
                      <a:srgbClr val="E8EE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2C77"/>
                          </a:solidFill>
                          <a:latin typeface="Segoe UI"/>
                        </a:rPr>
                        <a:t>64 / 100</a:t>
                      </a:r>
                    </a:p>
                  </a:txBody>
                  <a:tcPr marL="73152" marR="73152" marT="27432" marB="27432" anchor="ctr">
                    <a:solidFill>
                      <a:srgbClr val="E8EE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2C77"/>
                          </a:solidFill>
                          <a:latin typeface="Segoe UI"/>
                        </a:rPr>
                        <a:t>50 / 100</a:t>
                      </a:r>
                    </a:p>
                  </a:txBody>
                  <a:tcPr marL="73152" marR="73152" marT="27432" marB="27432" anchor="ctr">
                    <a:solidFill>
                      <a:srgbClr val="E8EE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F2B"/>
                          </a:solidFill>
                          <a:latin typeface="Segoe UI"/>
                        </a:rPr>
                        <a:t>Room rent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Up to SI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F6B7A"/>
                          </a:solidFill>
                          <a:latin typeface="Segoe UI"/>
                        </a:rPr>
                        <a:t>Not stated in brochure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At actuals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F6B7A"/>
                          </a:solidFill>
                          <a:latin typeface="Segoe UI"/>
                        </a:rPr>
                        <a:t>Not stated in brochure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F2B"/>
                          </a:solidFill>
                          <a:latin typeface="Segoe UI"/>
                        </a:rPr>
                        <a:t>Restore / recharge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Unlimited times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100% (on select plans)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Up to 100% of base sum insured, unlimited times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Unlimited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F2B"/>
                          </a:solidFill>
                          <a:latin typeface="Segoe UI"/>
                        </a:rPr>
                        <a:t>Sum insured growth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50% of SI per year, max. up to 100% of SI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Up to 6 times (6x) (on select plans)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100% of base sum insured added year after year, infinite times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maximum up to 5 times of Base Sum Insured (on select plans)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F2B"/>
                          </a:solidFill>
                          <a:latin typeface="Segoe UI"/>
                        </a:rPr>
                        <a:t>Air ambulance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Up to ₹5 lacs per year (optional, extra premium)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F6B7A"/>
                          </a:solidFill>
                          <a:latin typeface="Segoe UI"/>
                        </a:rPr>
                        <a:t>Not stated in brochure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Up to INR 5,00,000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up to INR 2,50,000 per Hospitalisation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F2B"/>
                          </a:solidFill>
                          <a:latin typeface="Segoe UI"/>
                        </a:rPr>
                        <a:t>Maternity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F6B7A"/>
                          </a:solidFill>
                          <a:latin typeface="Segoe UI"/>
                        </a:rPr>
                        <a:t>Not stated in brochure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up to INR 1 Lac (on select plans)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Covers maternity expenses, embryo storage costs and IVF treatments (via a separate add-on)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F6B7A"/>
                          </a:solidFill>
                          <a:latin typeface="Segoe UI"/>
                        </a:rPr>
                        <a:t>Not stated in brochure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F2B"/>
                          </a:solidFill>
                          <a:latin typeface="Segoe UI"/>
                        </a:rPr>
                        <a:t>Chronic conditions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F6B7A"/>
                          </a:solidFill>
                          <a:latin typeface="Segoe UI"/>
                        </a:rPr>
                        <a:t>Not stated in brochure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0 waiting period (Day 1 cover) (on select plans)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Covers hospitalisation expenses for Asthma, Blood pressure, Cholesterol… (via a separate add-on)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F6B7A"/>
                          </a:solidFill>
                          <a:latin typeface="Segoe UI"/>
                        </a:rPr>
                        <a:t>Not stated in brochure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A1F2B"/>
                          </a:solidFill>
                          <a:latin typeface="Segoe UI"/>
                        </a:rPr>
                        <a:t>Pre-existing disease wait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36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F6B7A"/>
                          </a:solidFill>
                          <a:latin typeface="Segoe UI"/>
                        </a:rPr>
                        <a:t>Not stated in brochure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1A1F2B"/>
                          </a:solidFill>
                          <a:latin typeface="Segoe UI"/>
                        </a:rPr>
                        <a:t>36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5F6B7A"/>
                          </a:solidFill>
                          <a:latin typeface="Segoe UI"/>
                        </a:rPr>
                        <a:t>Not stated in brochure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F6B7A"/>
                </a:solidFill>
                <a:latin typeface="Segoe UI"/>
              </a:rPr>
              <a:t>Sources: Aditya Birla Health brochure p.2; Care Health brochure p.2; Care Health brochure p.3; Care Health brochure p.4; HDFC ERGO brochure p.11; HDFC ERGO brochure p.14; HDFC ERGO brochure p.2; HDFC ERGO brochure p.8; Niva Bupa brochure p.2. Fit score: Marsh scoring of benefits against this workforce's risks.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Our recommendation: Care Supreme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C9D6EE"/>
                </a:solidFill>
                <a:latin typeface="Segoe UI"/>
              </a:rPr>
              <a:t>Recommended as voluntary top-up cover for employees and their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1094415" cy="1270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5F6B7A"/>
                </a:solidFill>
                <a:latin typeface="Segoe UI"/>
              </a:rPr>
              <a:t>Marsh | Prepared for Infosys | Audited and approved by advisor | Audit e5de5f4af6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400800"/>
            <a:ext cx="1371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5F6B7A"/>
                </a:solidFill>
                <a:latin typeface="Segoe UI"/>
              </a:rPr>
              <a:t>5 /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3017520" cy="3566160"/>
          </a:xfrm>
          <a:prstGeom prst="roundRect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C9D6EE"/>
                </a:solidFill>
                <a:latin typeface="Segoe UI"/>
              </a:rPr>
              <a:t>FIT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0175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Segoe UI"/>
              </a:rPr>
              <a:t>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C9D6EE"/>
                </a:solidFill>
                <a:latin typeface="Segoe UI"/>
              </a:rPr>
              <a:t>out of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6517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Care Supreme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280160"/>
            <a:ext cx="761969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02C77"/>
                </a:solidFill>
                <a:latin typeface="Segoe UI"/>
              </a:rPr>
              <a:t>Why it fits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02C77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1A1F2B"/>
                </a:solidFill>
                <a:latin typeface="Segoe UI"/>
              </a:rPr>
              <a:t>Health Services: Health Portal &amp; Discount Connect.</a:t>
            </a:r>
          </a:p>
          <a:p>
            <a:pPr>
              <a:spcBef>
                <a:spcPts val="100"/>
              </a:spcBef>
            </a:pPr>
            <a:r>
              <a:rPr sz="900" b="0" i="1">
                <a:solidFill>
                  <a:srgbClr val="5F6B7A"/>
                </a:solidFill>
                <a:latin typeface="Segoe UI"/>
              </a:rPr>
              <a:t>   Source: Care Health brochure p.2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02C77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1A1F2B"/>
                </a:solidFill>
                <a:latin typeface="Segoe UI"/>
              </a:rPr>
              <a:t>Unlimited E-Consultations: Unlimited.</a:t>
            </a:r>
          </a:p>
          <a:p>
            <a:pPr>
              <a:spcBef>
                <a:spcPts val="100"/>
              </a:spcBef>
            </a:pPr>
            <a:r>
              <a:rPr sz="900" b="0" i="1">
                <a:solidFill>
                  <a:srgbClr val="5F6B7A"/>
                </a:solidFill>
                <a:latin typeface="Segoe UI"/>
              </a:rPr>
              <a:t>   Source: Care Health brochure p.2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002C77"/>
                </a:solidFill>
                <a:latin typeface="Segoe UI"/>
              </a:rPr>
              <a:t>• </a:t>
            </a:r>
            <a:r>
              <a:rPr sz="1500" b="0" i="0">
                <a:solidFill>
                  <a:srgbClr val="1A1F2B"/>
                </a:solidFill>
                <a:latin typeface="Segoe UI"/>
              </a:rPr>
              <a:t>Maximum Entry Age: Adult: Lifelong, Child: 24 years.</a:t>
            </a:r>
          </a:p>
          <a:p>
            <a:pPr>
              <a:spcBef>
                <a:spcPts val="100"/>
              </a:spcBef>
            </a:pPr>
            <a:r>
              <a:rPr sz="900" b="0" i="1">
                <a:solidFill>
                  <a:srgbClr val="5F6B7A"/>
                </a:solidFill>
                <a:latin typeface="Segoe UI"/>
              </a:rPr>
              <a:t>   Source: Care Health brochure p.2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343400"/>
            <a:ext cx="761969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B26A00"/>
                </a:solidFill>
                <a:latin typeface="Segoe UI"/>
              </a:rPr>
              <a:t>Not covered by brochure evidence: Young workforce starting families: maternity and newborn needs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20640"/>
            <a:ext cx="11094415" cy="1005840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10728655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B7A"/>
                </a:solidFill>
                <a:latin typeface="Segoe UI"/>
              </a:rPr>
              <a:t>Positioning: individual/family health plans offered as voluntary top-up cover alongside the employer's group policy. Benefits summarised from insurer brochures; policy wordings prevail. Premiums and eligibility subject to underwriting.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Marsh pitch for Infosys</dc:title>
  <dc:subject/>
  <dc:creator>Marsh Pitch Generator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